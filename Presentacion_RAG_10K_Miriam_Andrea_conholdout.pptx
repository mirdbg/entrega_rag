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068" y="3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B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8975"/>
                </a:solidFill>
                <a:latin typeface="Aptos"/>
              </a:rPr>
              <a:t>AGENTE INVESTIGADOR SOBRE INFORMES 10-K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786384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De recuperar texto
a construir un sistema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CE4"/>
                </a:solidFill>
                <a:latin typeface="Aptos"/>
              </a:rPr>
              <a:t>Routing por herramientas · retrieval híbrido · guardrail XBRL · evaluación reproducible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657600"/>
            <a:ext cx="10058400" cy="777240"/>
          </a:xfrm>
          <a:prstGeom prst="roundRect">
            <a:avLst/>
          </a:prstGeom>
          <a:solidFill>
            <a:srgbClr val="674868"/>
          </a:solidFill>
          <a:ln>
            <a:solidFill>
              <a:srgbClr val="67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9509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La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respuesta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no basta: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medimos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el camino, la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cita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, el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coste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y la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latencia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074920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24865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5202936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68975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5074920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524865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5202936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689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5074920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524865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Fuente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5202936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68975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5074920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524865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Respuesta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5202936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68975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5074920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32520" y="524865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Verificación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5508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FCC"/>
                </a:solidFill>
                <a:latin typeface="Aptos"/>
              </a:rPr>
              <a:t>MIAX · LLMs aplicados a Finanzas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084831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MIRIAM DEL BLANCO  ·  ANDREA LABÁ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897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68975"/>
                </a:solidFill>
                <a:latin typeface="Aptos"/>
              </a:rPr>
              <a:t>DATOS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3C2B44"/>
                </a:solidFill>
                <a:latin typeface="Aptos"/>
              </a:rPr>
              <a:t>¿Qué recibe realmente el agente?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776C74"/>
                </a:solidFill>
                <a:latin typeface="Aptos"/>
              </a:rPr>
              <a:t>MIAX · LLMs aplicados a Finanzas · Entrega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776C74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>
                <a:solidFill>
                  <a:srgbClr val="373039"/>
                </a:solidFill>
                <a:latin typeface="Aptos"/>
              </a:rPr>
              <a:t>Los datos ya condicionan el diseño: el texto está fragmentado y XBRL es preciso, pero incompleto.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5138928" cy="4370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68975"/>
                </a:solidFill>
                <a:latin typeface="Aptos"/>
              </a:rPr>
              <a:t>01  TEXTO +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3C2B44"/>
                </a:solidFill>
                <a:latin typeface="Aptos"/>
              </a:rPr>
              <a:t>48 secciones  ·  1.749 chunks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776C74"/>
                </a:solidFill>
                <a:latin typeface="Aptos"/>
              </a:rPr>
              <a:t>Cada chunk conserva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34640"/>
            <a:ext cx="4251960" cy="53035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30" b="0">
                <a:solidFill>
                  <a:srgbClr val="373039"/>
                </a:solidFill>
                <a:latin typeface="Aptos Mono"/>
              </a:rPr>
              <a:t>ticker · fiscal_year · item · chunk_id
posición · nº tokens · contiene_tabla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3593592"/>
            <a:ext cx="4590288" cy="1261872"/>
          </a:xfrm>
          <a:prstGeom prst="roundRect">
            <a:avLst/>
          </a:prstGeom>
          <a:solidFill>
            <a:srgbClr val="F8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3794760"/>
            <a:ext cx="4023360" cy="21031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1">
                <a:solidFill>
                  <a:srgbClr val="B86F7A"/>
                </a:solidFill>
                <a:latin typeface="Aptos"/>
              </a:rPr>
              <a:t>Tablas partidas entre chunks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133087"/>
            <a:ext cx="3977639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373039"/>
                </a:solidFill>
                <a:latin typeface="Aptos"/>
              </a:rPr>
              <a:t>El corte puede dejar fuera filas, cabeceras o la escala “($ in millions)”. Por eso un chunk correcto puede seguir siendo insuficiente.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093208"/>
            <a:ext cx="4434840" cy="18158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40" b="1" dirty="0">
                <a:solidFill>
                  <a:srgbClr val="668975"/>
                </a:solidFill>
                <a:latin typeface="Aptos"/>
              </a:rPr>
              <a:t>Si </a:t>
            </a:r>
            <a:r>
              <a:rPr sz="940" b="1" dirty="0" err="1">
                <a:solidFill>
                  <a:srgbClr val="668975"/>
                </a:solidFill>
                <a:latin typeface="Aptos"/>
              </a:rPr>
              <a:t>falta</a:t>
            </a:r>
            <a:r>
              <a:rPr sz="940" b="1" dirty="0">
                <a:solidFill>
                  <a:srgbClr val="668975"/>
                </a:solidFill>
                <a:latin typeface="Aptos"/>
              </a:rPr>
              <a:t> </a:t>
            </a:r>
            <a:r>
              <a:rPr sz="940" b="1" dirty="0" err="1">
                <a:solidFill>
                  <a:srgbClr val="668975"/>
                </a:solidFill>
                <a:latin typeface="Aptos"/>
              </a:rPr>
              <a:t>contexto</a:t>
            </a:r>
            <a:r>
              <a:rPr sz="940" b="1" dirty="0">
                <a:solidFill>
                  <a:srgbClr val="668975"/>
                </a:solidFill>
                <a:latin typeface="Aptos"/>
              </a:rPr>
              <a:t> </a:t>
            </a:r>
            <a:r>
              <a:rPr lang="es-ES" sz="940" b="1" dirty="0">
                <a:solidFill>
                  <a:srgbClr val="668975"/>
                </a:solidFill>
                <a:latin typeface="Aptos"/>
              </a:rPr>
              <a:t>para entender la tabla se </a:t>
            </a:r>
            <a:r>
              <a:rPr sz="940" b="1" dirty="0" err="1">
                <a:solidFill>
                  <a:srgbClr val="668975"/>
                </a:solidFill>
                <a:latin typeface="Aptos"/>
              </a:rPr>
              <a:t>recupera</a:t>
            </a:r>
            <a:r>
              <a:rPr sz="940" b="1" dirty="0">
                <a:solidFill>
                  <a:srgbClr val="668975"/>
                </a:solidFill>
                <a:latin typeface="Aptos"/>
              </a:rPr>
              <a:t> la </a:t>
            </a:r>
            <a:r>
              <a:rPr sz="940" b="1" dirty="0" err="1">
                <a:solidFill>
                  <a:srgbClr val="668975"/>
                </a:solidFill>
                <a:latin typeface="Aptos"/>
              </a:rPr>
              <a:t>sección</a:t>
            </a:r>
            <a:r>
              <a:rPr sz="940" b="1" dirty="0">
                <a:solidFill>
                  <a:srgbClr val="668975"/>
                </a:solidFill>
                <a:latin typeface="Aptos"/>
              </a:rPr>
              <a:t> completa.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5422392"/>
            <a:ext cx="4590288" cy="274320"/>
          </a:xfrm>
          <a:prstGeom prst="rect">
            <a:avLst/>
          </a:prstGeom>
          <a:solidFill>
            <a:srgbClr val="3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486400"/>
            <a:ext cx="4251960" cy="128016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40" b="1" dirty="0">
                <a:solidFill>
                  <a:srgbClr val="FFFFFF"/>
                </a:solidFill>
                <a:latin typeface="Aptos"/>
              </a:rPr>
              <a:t>FAISS · 1.749 </a:t>
            </a:r>
            <a:r>
              <a:rPr sz="840" b="1" dirty="0" err="1">
                <a:solidFill>
                  <a:srgbClr val="FFFFFF"/>
                </a:solidFill>
                <a:latin typeface="Aptos"/>
              </a:rPr>
              <a:t>vectores</a:t>
            </a:r>
            <a:r>
              <a:rPr sz="840" b="1" dirty="0">
                <a:solidFill>
                  <a:srgbClr val="FFFFFF"/>
                </a:solidFill>
                <a:latin typeface="Aptos"/>
              </a:rPr>
              <a:t> · 384 </a:t>
            </a:r>
            <a:r>
              <a:rPr sz="840" b="1" dirty="0" err="1">
                <a:solidFill>
                  <a:srgbClr val="FFFFFF"/>
                </a:solidFill>
                <a:latin typeface="Aptos"/>
              </a:rPr>
              <a:t>dimensiones</a:t>
            </a:r>
            <a:endParaRPr sz="84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053328" y="1572768"/>
            <a:ext cx="5504688" cy="4370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181051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C5974D"/>
                </a:solidFill>
                <a:latin typeface="Aptos"/>
              </a:rPr>
              <a:t>02  XBRL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103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3C2B44"/>
                </a:solidFill>
                <a:latin typeface="Aptos"/>
              </a:rPr>
              <a:t>135 hechos · cobertura desigual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578608"/>
            <a:ext cx="4709160" cy="17838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dirty="0">
                <a:solidFill>
                  <a:srgbClr val="776C74"/>
                </a:solidFill>
                <a:latin typeface="Aptos"/>
              </a:rPr>
              <a:t>La </a:t>
            </a:r>
            <a:r>
              <a:rPr sz="919" b="0" dirty="0" err="1">
                <a:solidFill>
                  <a:srgbClr val="776C74"/>
                </a:solidFill>
                <a:latin typeface="Aptos"/>
              </a:rPr>
              <a:t>mayoría</a:t>
            </a:r>
            <a:r>
              <a:rPr sz="919" b="0" dirty="0">
                <a:solidFill>
                  <a:srgbClr val="776C74"/>
                </a:solidFill>
                <a:latin typeface="Aptos"/>
              </a:rPr>
              <a:t> de </a:t>
            </a:r>
            <a:r>
              <a:rPr sz="919" b="0" dirty="0" err="1">
                <a:solidFill>
                  <a:srgbClr val="776C74"/>
                </a:solidFill>
                <a:latin typeface="Aptos"/>
              </a:rPr>
              <a:t>conceptos</a:t>
            </a:r>
            <a:r>
              <a:rPr sz="919" b="0" dirty="0">
                <a:solidFill>
                  <a:srgbClr val="776C74"/>
                </a:solidFill>
                <a:latin typeface="Aptos"/>
              </a:rPr>
              <a:t> </a:t>
            </a:r>
            <a:r>
              <a:rPr sz="919" b="0" dirty="0" err="1">
                <a:solidFill>
                  <a:srgbClr val="776C74"/>
                </a:solidFill>
                <a:latin typeface="Aptos"/>
              </a:rPr>
              <a:t>están</a:t>
            </a:r>
            <a:r>
              <a:rPr sz="919" b="0" dirty="0">
                <a:solidFill>
                  <a:srgbClr val="776C74"/>
                </a:solidFill>
                <a:latin typeface="Aptos"/>
              </a:rPr>
              <a:t> </a:t>
            </a:r>
            <a:r>
              <a:rPr sz="919" b="0" dirty="0" err="1">
                <a:solidFill>
                  <a:srgbClr val="776C74"/>
                </a:solidFill>
                <a:latin typeface="Aptos"/>
              </a:rPr>
              <a:t>en</a:t>
            </a:r>
            <a:r>
              <a:rPr sz="919" b="0" dirty="0">
                <a:solidFill>
                  <a:srgbClr val="776C74"/>
                </a:solidFill>
                <a:latin typeface="Aptos"/>
              </a:rPr>
              <a:t> ambos </a:t>
            </a:r>
            <a:r>
              <a:rPr sz="919" b="0" dirty="0" err="1">
                <a:solidFill>
                  <a:srgbClr val="776C74"/>
                </a:solidFill>
                <a:latin typeface="Aptos"/>
              </a:rPr>
              <a:t>ejercicios</a:t>
            </a:r>
            <a:r>
              <a:rPr sz="919" b="0" dirty="0">
                <a:solidFill>
                  <a:srgbClr val="776C74"/>
                </a:solidFill>
                <a:latin typeface="Aptos"/>
              </a:rPr>
              <a:t>, </a:t>
            </a:r>
            <a:r>
              <a:rPr sz="919" b="0" dirty="0" err="1">
                <a:solidFill>
                  <a:srgbClr val="776C74"/>
                </a:solidFill>
                <a:latin typeface="Aptos"/>
              </a:rPr>
              <a:t>pero</a:t>
            </a:r>
            <a:r>
              <a:rPr sz="919" b="0" dirty="0">
                <a:solidFill>
                  <a:srgbClr val="776C74"/>
                </a:solidFill>
                <a:latin typeface="Aptos"/>
              </a:rPr>
              <a:t> </a:t>
            </a:r>
            <a:r>
              <a:rPr lang="es-ES" sz="919" b="0" dirty="0">
                <a:solidFill>
                  <a:srgbClr val="776C74"/>
                </a:solidFill>
                <a:latin typeface="Aptos"/>
              </a:rPr>
              <a:t>hay </a:t>
            </a:r>
            <a:r>
              <a:rPr sz="919" b="0" dirty="0" err="1">
                <a:solidFill>
                  <a:srgbClr val="776C74"/>
                </a:solidFill>
                <a:latin typeface="Aptos"/>
              </a:rPr>
              <a:t>excepciones</a:t>
            </a:r>
            <a:r>
              <a:rPr sz="919" b="0" dirty="0">
                <a:solidFill>
                  <a:srgbClr val="776C74"/>
                </a:solidFill>
                <a:latin typeface="Aptos"/>
              </a:rPr>
              <a:t> </a:t>
            </a:r>
            <a:r>
              <a:rPr sz="919" b="0" dirty="0" err="1">
                <a:solidFill>
                  <a:srgbClr val="776C74"/>
                </a:solidFill>
                <a:latin typeface="Aptos"/>
              </a:rPr>
              <a:t>relevantes</a:t>
            </a:r>
            <a:r>
              <a:rPr sz="919" b="0" dirty="0">
                <a:solidFill>
                  <a:srgbClr val="776C74"/>
                </a:solidFill>
                <a:latin typeface="Aptos"/>
              </a:rPr>
              <a:t>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087706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1">
                <a:solidFill>
                  <a:srgbClr val="3C2B44"/>
                </a:solidFill>
                <a:latin typeface="Aptos"/>
              </a:rPr>
              <a:t>GrossProfit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087706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>
                <a:solidFill>
                  <a:srgbClr val="373039"/>
                </a:solidFill>
                <a:latin typeface="Aptos"/>
              </a:rPr>
              <a:t>no AMZN · GOOGL · META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480898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1">
                <a:solidFill>
                  <a:srgbClr val="3C2B44"/>
                </a:solidFill>
                <a:latin typeface="Aptos"/>
              </a:rPr>
              <a:t>Liabilities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348089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>
                <a:solidFill>
                  <a:srgbClr val="373039"/>
                </a:solidFill>
                <a:latin typeface="Aptos"/>
              </a:rPr>
              <a:t>no AMZN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874090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1">
                <a:solidFill>
                  <a:srgbClr val="3C2B44"/>
                </a:solidFill>
                <a:latin typeface="Aptos"/>
              </a:rPr>
              <a:t>R&amp;D Expense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3874090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>
                <a:solidFill>
                  <a:srgbClr val="373039"/>
                </a:solidFill>
                <a:latin typeface="Aptos"/>
              </a:rPr>
              <a:t>no AMZN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267282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1">
                <a:solidFill>
                  <a:srgbClr val="3C2B44"/>
                </a:solidFill>
                <a:latin typeface="Aptos"/>
              </a:rPr>
              <a:t>RevenueFromContract…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267282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>
                <a:solidFill>
                  <a:srgbClr val="373039"/>
                </a:solidFill>
                <a:latin typeface="Aptos"/>
              </a:rPr>
              <a:t>GOOGL: 1 año · NVDA: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660473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1">
                <a:solidFill>
                  <a:srgbClr val="3C2B44"/>
                </a:solidFill>
                <a:latin typeface="Aptos"/>
              </a:rPr>
              <a:t>Revenues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4660473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>
                <a:solidFill>
                  <a:srgbClr val="373039"/>
                </a:solidFill>
                <a:latin typeface="Aptos"/>
              </a:rPr>
              <a:t>solo GOOGL · NVDA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7648" y="5257800"/>
            <a:ext cx="4956048" cy="438912"/>
          </a:xfrm>
          <a:prstGeom prst="roundRect">
            <a:avLst/>
          </a:prstGeom>
          <a:solidFill>
            <a:srgbClr val="EB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5325017"/>
            <a:ext cx="4572000" cy="298543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50" b="1" dirty="0">
                <a:solidFill>
                  <a:srgbClr val="668975"/>
                </a:solidFill>
                <a:latin typeface="Aptos"/>
              </a:rPr>
              <a:t>Un tag </a:t>
            </a:r>
            <a:r>
              <a:rPr sz="850" b="1" dirty="0" err="1">
                <a:solidFill>
                  <a:srgbClr val="668975"/>
                </a:solidFill>
                <a:latin typeface="Aptos"/>
              </a:rPr>
              <a:t>ausente</a:t>
            </a:r>
            <a:r>
              <a:rPr sz="850" b="1" dirty="0">
                <a:solidFill>
                  <a:srgbClr val="668975"/>
                </a:solidFill>
                <a:latin typeface="Aptos"/>
              </a:rPr>
              <a:t> no </a:t>
            </a:r>
            <a:r>
              <a:rPr sz="850" b="1" dirty="0" err="1">
                <a:solidFill>
                  <a:srgbClr val="668975"/>
                </a:solidFill>
                <a:latin typeface="Aptos"/>
              </a:rPr>
              <a:t>implica</a:t>
            </a:r>
            <a:r>
              <a:rPr sz="850" b="1" dirty="0">
                <a:solidFill>
                  <a:srgbClr val="668975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668975"/>
                </a:solidFill>
                <a:latin typeface="Aptos"/>
              </a:rPr>
              <a:t>dato</a:t>
            </a:r>
            <a:r>
              <a:rPr sz="850" b="1" dirty="0">
                <a:solidFill>
                  <a:srgbClr val="668975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668975"/>
                </a:solidFill>
                <a:latin typeface="Aptos"/>
              </a:rPr>
              <a:t>ausente</a:t>
            </a:r>
            <a:r>
              <a:rPr sz="850" b="1" dirty="0">
                <a:solidFill>
                  <a:srgbClr val="668975"/>
                </a:solidFill>
                <a:latin typeface="Aptos"/>
              </a:rPr>
              <a:t>: </a:t>
            </a:r>
            <a:r>
              <a:rPr sz="850" b="1" dirty="0" err="1">
                <a:solidFill>
                  <a:srgbClr val="668975"/>
                </a:solidFill>
                <a:latin typeface="Aptos"/>
              </a:rPr>
              <a:t>una</a:t>
            </a:r>
            <a:r>
              <a:rPr sz="850" b="1" dirty="0">
                <a:solidFill>
                  <a:srgbClr val="668975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668975"/>
                </a:solidFill>
                <a:latin typeface="Aptos"/>
              </a:rPr>
              <a:t>misma</a:t>
            </a:r>
            <a:r>
              <a:rPr sz="850" b="1" dirty="0">
                <a:solidFill>
                  <a:srgbClr val="668975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668975"/>
                </a:solidFill>
                <a:latin typeface="Aptos"/>
              </a:rPr>
              <a:t>magnitud</a:t>
            </a:r>
            <a:r>
              <a:rPr sz="850" b="1" dirty="0">
                <a:solidFill>
                  <a:srgbClr val="668975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668975"/>
                </a:solidFill>
                <a:latin typeface="Aptos"/>
              </a:rPr>
              <a:t>puede</a:t>
            </a:r>
            <a:r>
              <a:rPr sz="850" b="1" dirty="0">
                <a:solidFill>
                  <a:srgbClr val="668975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668975"/>
                </a:solidFill>
                <a:latin typeface="Aptos"/>
              </a:rPr>
              <a:t>cambiar</a:t>
            </a:r>
            <a:r>
              <a:rPr sz="850" b="1" dirty="0">
                <a:solidFill>
                  <a:srgbClr val="668975"/>
                </a:solidFill>
                <a:latin typeface="Aptos"/>
              </a:rPr>
              <a:t> de </a:t>
            </a:r>
            <a:r>
              <a:rPr sz="850" b="1" dirty="0" err="1">
                <a:solidFill>
                  <a:srgbClr val="668975"/>
                </a:solidFill>
                <a:latin typeface="Aptos"/>
              </a:rPr>
              <a:t>concepto</a:t>
            </a:r>
            <a:r>
              <a:rPr lang="es-ES" sz="850" b="1" dirty="0">
                <a:solidFill>
                  <a:srgbClr val="668975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668975"/>
                </a:solidFill>
                <a:latin typeface="Aptos"/>
              </a:rPr>
              <a:t>según</a:t>
            </a:r>
            <a:r>
              <a:rPr sz="850" b="1" dirty="0">
                <a:solidFill>
                  <a:srgbClr val="668975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668975"/>
                </a:solidFill>
                <a:latin typeface="Aptos"/>
              </a:rPr>
              <a:t>compañía</a:t>
            </a:r>
            <a:r>
              <a:rPr sz="850" b="1" dirty="0">
                <a:solidFill>
                  <a:srgbClr val="668975"/>
                </a:solidFill>
                <a:latin typeface="Aptos"/>
              </a:rPr>
              <a:t>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6126480"/>
            <a:ext cx="10899648" cy="256032"/>
          </a:xfrm>
          <a:prstGeom prst="roundRect">
            <a:avLst/>
          </a:prstGeom>
          <a:solidFill>
            <a:srgbClr val="3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6181344"/>
            <a:ext cx="10424160" cy="128016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Diseño resultante: XBRL para precisión · retrieval para significado · read_section cuando el chunk pierde contexto.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68975"/>
                </a:solidFill>
                <a:latin typeface="Aptos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3C2B44"/>
                </a:solidFill>
                <a:latin typeface="Aptos"/>
              </a:rPr>
              <a:t>Routing asimétrico: cada tool tiene una función distinta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897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776C74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776C74"/>
                </a:solidFill>
                <a:latin typeface="Aptos"/>
              </a:rPr>
              <a:t>MIAX · LLMs aplicados a Finanzas · Entrega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234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07592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C2B44"/>
                </a:solidFill>
                <a:latin typeface="Apto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76C74"/>
                </a:solidFill>
                <a:latin typeface="Aptos"/>
              </a:rPr>
              <a:t>compañías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170432"/>
            <a:ext cx="1234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1307592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C2B44"/>
                </a:solidFill>
                <a:latin typeface="Aptos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57276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76C74"/>
                </a:solidFill>
                <a:latin typeface="Aptos"/>
              </a:rPr>
              <a:t>secciones 10-K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170432"/>
            <a:ext cx="1234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0" y="1307592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C2B44"/>
                </a:solidFill>
                <a:latin typeface="Aptos"/>
              </a:rPr>
              <a:t>1.749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57276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76C74"/>
                </a:solidFill>
                <a:latin typeface="Aptos"/>
              </a:rPr>
              <a:t>chunks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1170432"/>
            <a:ext cx="1234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0680" y="1307592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C2B44"/>
                </a:solidFill>
                <a:latin typeface="Aptos"/>
              </a:rPr>
              <a:t>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157276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76C74"/>
                </a:solidFill>
                <a:latin typeface="Aptos"/>
              </a:rPr>
              <a:t>hechos XBRL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1170432"/>
            <a:ext cx="1234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1307592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C2B44"/>
                </a:solidFill>
                <a:latin typeface="Aptos"/>
              </a:rPr>
              <a:t>1.749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57276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76C74"/>
                </a:solidFill>
                <a:latin typeface="Aptos"/>
              </a:rPr>
              <a:t>vectores FAISS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170432"/>
            <a:ext cx="1234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1307592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C2B44"/>
                </a:solidFill>
                <a:latin typeface="Aptos"/>
              </a:rPr>
              <a:t>384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57276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76C74"/>
                </a:solidFill>
                <a:latin typeface="Aptos"/>
              </a:rPr>
              <a:t>dim. embedding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1965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76C74"/>
                </a:solidFill>
                <a:latin typeface="Aptos"/>
              </a:rPr>
              <a:t>Los datos están alineados por `chunk_id`: texto ↔ metadatos ↔ vector FAISS. Una desalineación sería un error silencioso.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2423160"/>
            <a:ext cx="25420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" y="2596896"/>
            <a:ext cx="22128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C2B44"/>
                </a:solidFill>
                <a:latin typeface="Aptos"/>
              </a:rPr>
              <a:t>get_xbrl_fact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" y="290779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68975"/>
                </a:solidFill>
                <a:latin typeface="Aptos"/>
              </a:rPr>
              <a:t>CIFRAS EXACTAS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" y="327355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76C74"/>
                </a:solidFill>
                <a:latin typeface="Aptos"/>
              </a:rPr>
              <a:t>Ejemplo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" y="3493008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73039"/>
                </a:solidFill>
                <a:latin typeface="Aptos"/>
              </a:rPr>
              <a:t>NVDA · FY2024 · Revenues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" y="400507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68975"/>
                </a:solidFill>
                <a:latin typeface="Aptos"/>
              </a:rPr>
              <a:t>60.922.000.000 USD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" y="441655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76C74"/>
                </a:solidFill>
                <a:latin typeface="Aptos"/>
              </a:rPr>
              <a:t>XBRL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10712" y="2423160"/>
            <a:ext cx="25420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57016" y="2596896"/>
            <a:ext cx="22128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C2B44"/>
                </a:solidFill>
                <a:latin typeface="Aptos"/>
              </a:rPr>
              <a:t>search_filings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7016" y="290779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4868"/>
                </a:solidFill>
                <a:latin typeface="Aptos"/>
              </a:rPr>
              <a:t>RIESGOS / CAUSAS / ESTRATEGIA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7016" y="327355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76C74"/>
                </a:solidFill>
                <a:latin typeface="Aptos"/>
              </a:rPr>
              <a:t>Ejemplo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7016" y="3493008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73039"/>
                </a:solidFill>
                <a:latin typeface="Aptos"/>
              </a:rPr>
              <a:t>“operating income by reportable segments”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57016" y="400507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74868"/>
                </a:solidFill>
                <a:latin typeface="Aptos"/>
              </a:rPr>
              <a:t>→ 5 chunks + chunk_id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57016" y="441655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76C74"/>
                </a:solidFill>
                <a:latin typeface="Aptos"/>
              </a:rPr>
              <a:t>retrieval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7064" y="2423160"/>
            <a:ext cx="25420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73368" y="2596896"/>
            <a:ext cx="22128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C2B44"/>
                </a:solidFill>
                <a:latin typeface="Aptos"/>
              </a:rPr>
              <a:t>read_section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290779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C5974D"/>
                </a:solidFill>
                <a:latin typeface="Aptos"/>
              </a:rPr>
              <a:t>CONTEXTO COMPLETO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327355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76C74"/>
                </a:solidFill>
                <a:latin typeface="Aptos"/>
              </a:rPr>
              <a:t>Ejemplo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3493008"/>
            <a:ext cx="2194560" cy="3693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 dirty="0" err="1">
                <a:solidFill>
                  <a:srgbClr val="373039"/>
                </a:solidFill>
                <a:latin typeface="Aptos"/>
              </a:rPr>
              <a:t>si</a:t>
            </a:r>
            <a:r>
              <a:rPr sz="900" b="0" dirty="0">
                <a:solidFill>
                  <a:srgbClr val="373039"/>
                </a:solidFill>
                <a:latin typeface="Aptos"/>
              </a:rPr>
              <a:t> el chunk </a:t>
            </a:r>
            <a:r>
              <a:rPr sz="900" b="0" dirty="0" err="1">
                <a:solidFill>
                  <a:srgbClr val="373039"/>
                </a:solidFill>
                <a:latin typeface="Aptos"/>
              </a:rPr>
              <a:t>corta</a:t>
            </a:r>
            <a:r>
              <a:rPr sz="900" b="0" dirty="0">
                <a:solidFill>
                  <a:srgbClr val="373039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373039"/>
                </a:solidFill>
                <a:latin typeface="Aptos"/>
              </a:rPr>
              <a:t>una</a:t>
            </a:r>
            <a:r>
              <a:rPr sz="900" b="0" dirty="0">
                <a:solidFill>
                  <a:srgbClr val="373039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373039"/>
                </a:solidFill>
                <a:latin typeface="Aptos"/>
              </a:rPr>
              <a:t>tabla</a:t>
            </a:r>
            <a:r>
              <a:rPr lang="es-ES" sz="900" b="0" dirty="0">
                <a:solidFill>
                  <a:srgbClr val="373039"/>
                </a:solidFill>
                <a:latin typeface="Aptos"/>
              </a:rPr>
              <a:t> y era necesaria entera</a:t>
            </a:r>
            <a:endParaRPr sz="900" b="0" dirty="0">
              <a:solidFill>
                <a:srgbClr val="373039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373368" y="400507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C5974D"/>
                </a:solidFill>
                <a:latin typeface="Aptos"/>
              </a:rPr>
              <a:t>→ sección completa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441655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76C74"/>
                </a:solidFill>
                <a:latin typeface="Aptos"/>
              </a:rPr>
              <a:t>fallback caro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43416" y="2423160"/>
            <a:ext cx="25420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89720" y="2596896"/>
            <a:ext cx="22128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C2B44"/>
                </a:solidFill>
                <a:latin typeface="Aptos"/>
              </a:rPr>
              <a:t>list_available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290779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86F7A"/>
                </a:solidFill>
                <a:latin typeface="Aptos"/>
              </a:rPr>
              <a:t>COBERTURA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327355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76C74"/>
                </a:solidFill>
                <a:latin typeface="Aptos"/>
              </a:rPr>
              <a:t>Ejemplo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3493008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73039"/>
                </a:solidFill>
                <a:latin typeface="Aptos"/>
              </a:rPr>
              <a:t>¿hay TSLA FY2025?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400507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B86F7A"/>
                </a:solidFill>
                <a:latin typeface="Aptos"/>
              </a:rPr>
              <a:t>→ compañías/años/items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20" y="441655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76C74"/>
                </a:solidFill>
                <a:latin typeface="Aptos"/>
              </a:rPr>
              <a:t>antes de negar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4360" y="5074920"/>
            <a:ext cx="10972800" cy="713232"/>
          </a:xfrm>
          <a:prstGeom prst="roundRect">
            <a:avLst/>
          </a:prstGeom>
          <a:solidFill>
            <a:srgbClr val="3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2960" y="5285232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Idea de routing: cifra → XBRL · contenido cualitativo → retrieval · contexto insuficiente → read_section · cobertura dudosa → list_available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68975"/>
                </a:solidFill>
                <a:latin typeface="Aptos"/>
              </a:rPr>
              <a:t>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3C2B44"/>
                </a:solidFill>
                <a:latin typeface="Aptos"/>
              </a:rPr>
              <a:t>El control que pretendía evitar alucinaciones llegó a crear una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897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776C74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776C74"/>
                </a:solidFill>
                <a:latin typeface="Aptos"/>
              </a:rPr>
              <a:t>MIAX · LLMs aplicados a Finanzas · Entrega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8975"/>
                </a:solidFill>
                <a:latin typeface="Aptos"/>
              </a:rPr>
              <a:t>Flujo de validación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72768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7373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Respuesta estructurada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3911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76C74"/>
                </a:solidFill>
                <a:latin typeface="Aptos"/>
              </a:rPr>
              <a:t>cifra + fuente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1828800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8975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572768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16936" y="17373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Extractor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6" y="203911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76C74"/>
                </a:solidFill>
                <a:latin typeface="Aptos"/>
              </a:rPr>
              <a:t>detecta magnitud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828800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8975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1572768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9784" y="17373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XBRL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203911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76C74"/>
                </a:solidFill>
                <a:latin typeface="Aptos"/>
              </a:rPr>
              <a:t>busca hechos del ticker/año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1828800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8975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32904" y="1572768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42631" y="17373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Comparación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1" y="203911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76C74"/>
                </a:solidFill>
                <a:latin typeface="Aptos"/>
              </a:rPr>
              <a:t>±1%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1828800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8975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5752" y="1572768"/>
            <a:ext cx="187451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55480" y="17373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Corrección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03911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76C74"/>
                </a:solidFill>
                <a:latin typeface="Aptos"/>
              </a:rPr>
              <a:t>máx. 1 reintento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743200"/>
            <a:ext cx="5394960" cy="2331720"/>
          </a:xfrm>
          <a:prstGeom prst="roundRect">
            <a:avLst/>
          </a:prstGeom>
          <a:solidFill>
            <a:srgbClr val="3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2999232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8975"/>
                </a:solidFill>
                <a:latin typeface="Aptos"/>
              </a:rPr>
              <a:t>Caso que rompió el sistema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3337560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Meta · provisión por impuestos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3767328"/>
            <a:ext cx="457200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1. El concepto no existía en XBRL.
2. `search_filings` encontró la cifra correcta en texto.
3. El middleware la comparó contra XBRL igualmente.
4. La rechazó y el agente se retractó.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2743200"/>
            <a:ext cx="53035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299923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8975"/>
                </a:solidFill>
                <a:latin typeface="Aptos"/>
              </a:rPr>
              <a:t>Arreglo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33756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C2B44"/>
                </a:solidFill>
                <a:latin typeface="Aptos"/>
              </a:rPr>
              <a:t>Verificar según procedencia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767328"/>
            <a:ext cx="438912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73039"/>
                </a:solidFill>
                <a:latin typeface="Aptos"/>
              </a:rPr>
              <a:t>Si `fuente == XBRL` → contraste automático.
Si la cifra viene de una cita textual → no exigir que exista como hecho XBRL.
Principio: el guardrail debe validar la fuente declarada, no imponer una fuente universal.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68975"/>
                </a:solidFill>
                <a:latin typeface="Aptos"/>
              </a:rPr>
              <a:t>ABLACIÓN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3C2B44"/>
                </a:solidFill>
                <a:latin typeface="Aptos"/>
              </a:rPr>
              <a:t>Qué mueve realmente el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897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776C74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776C74"/>
                </a:solidFill>
                <a:latin typeface="Aptos"/>
              </a:rPr>
              <a:t>MIAX · LLMs aplicados a Finanzas · Entrega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8862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C2B44"/>
                </a:solidFill>
                <a:latin typeface="Aptos"/>
              </a:rPr>
              <a:t>Qué ocurre en `search_filings`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8975"/>
                </a:solidFill>
                <a:latin typeface="Aptos"/>
              </a:rPr>
              <a:t>1  Filtros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87451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73039"/>
                </a:solidFill>
                <a:latin typeface="Aptos"/>
              </a:rPr>
              <a:t>ticker · FY ·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219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8975"/>
                </a:solidFill>
                <a:latin typeface="Aptos"/>
              </a:rPr>
              <a:t>2  Rewrite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221992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73039"/>
                </a:solidFill>
                <a:latin typeface="Aptos"/>
              </a:rPr>
              <a:t>pregunta → consulta breve en inglés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9713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8975"/>
                </a:solidFill>
                <a:latin typeface="Aptos"/>
              </a:rPr>
              <a:t>3  Denso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597136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73039"/>
                </a:solidFill>
                <a:latin typeface="Aptos"/>
              </a:rPr>
              <a:t>embedding 384D → FAISS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4460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8975"/>
                </a:solidFill>
                <a:latin typeface="Aptos"/>
              </a:rPr>
              <a:t>4  BM25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944608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73039"/>
                </a:solidFill>
                <a:latin typeface="Aptos"/>
              </a:rPr>
              <a:t>coincidencia léxica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2080"/>
            <a:ext cx="1097280" cy="24622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68975"/>
                </a:solidFill>
                <a:latin typeface="Aptos"/>
              </a:rPr>
              <a:t>5  RRF</a:t>
            </a:r>
            <a:r>
              <a:rPr lang="es-ES" sz="1000" b="1" dirty="0">
                <a:solidFill>
                  <a:srgbClr val="668975"/>
                </a:solidFill>
                <a:latin typeface="Aptos"/>
              </a:rPr>
              <a:t> (híbrido)</a:t>
            </a:r>
            <a:endParaRPr sz="1000" b="1" dirty="0">
              <a:solidFill>
                <a:srgbClr val="668975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74519" y="329208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73039"/>
                </a:solidFill>
                <a:latin typeface="Aptos"/>
              </a:rPr>
              <a:t>fusiona rankings, no scores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22191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76C74"/>
                </a:solidFill>
                <a:latin typeface="Aptos"/>
              </a:rPr>
              <a:t>Ejemplo de chunk recuperado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96512"/>
            <a:ext cx="31546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73039"/>
                </a:solidFill>
                <a:latin typeface="Aptos Mono"/>
              </a:rPr>
              <a:t>[NVDA-2024-7-0014]
Compute &amp; Networking  $47,405M
Graphics               $13,517M
Total                  $60,922M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937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68975"/>
                </a:solidFill>
                <a:latin typeface="Aptos"/>
              </a:rPr>
              <a:t>El `chunk_id` permite volver al texto exacto y verificar la cita.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2984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C2B44"/>
                </a:solidFill>
                <a:latin typeface="Aptos"/>
              </a:rPr>
              <a:t>Ablación · Recall@5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800600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5193792"/>
            <a:ext cx="1225295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373039"/>
                </a:solidFill>
                <a:latin typeface="Aptos"/>
              </a:rPr>
              <a:t>Denso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59552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776C74"/>
                </a:solidFill>
                <a:latin typeface="Aptos"/>
              </a:rPr>
              <a:t>379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7064" y="3638580"/>
            <a:ext cx="1078992" cy="1436339"/>
          </a:xfrm>
          <a:prstGeom prst="rect">
            <a:avLst/>
          </a:prstGeom>
          <a:solidFill>
            <a:srgbClr val="674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27064" y="3364260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46.2%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5193792"/>
            <a:ext cx="1225295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373039"/>
                </a:solidFill>
                <a:latin typeface="Aptos"/>
              </a:rPr>
              <a:t>+ filtros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7064" y="5559552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776C74"/>
                </a:solidFill>
                <a:latin typeface="Aptos"/>
              </a:rPr>
              <a:t>95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62088" y="3638580"/>
            <a:ext cx="1078992" cy="1436339"/>
          </a:xfrm>
          <a:prstGeom prst="rect">
            <a:avLst/>
          </a:prstGeom>
          <a:solidFill>
            <a:srgbClr val="674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3364260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46.2%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5193792"/>
            <a:ext cx="1225295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373039"/>
                </a:solidFill>
                <a:latin typeface="Aptos"/>
              </a:rPr>
              <a:t>+ BM25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2088" y="5559552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776C74"/>
                </a:solidFill>
                <a:latin typeface="Aptos"/>
              </a:rPr>
              <a:t>210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97112" y="2444739"/>
            <a:ext cx="1078992" cy="2630180"/>
          </a:xfrm>
          <a:prstGeom prst="rect">
            <a:avLst/>
          </a:prstGeom>
          <a:solidFill>
            <a:srgbClr val="668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97112" y="2170419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84.6%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193792"/>
            <a:ext cx="1225295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373039"/>
                </a:solidFill>
                <a:latin typeface="Aptos"/>
              </a:rPr>
              <a:t>+ rewrite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7112" y="5559552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776C74"/>
                </a:solidFill>
                <a:latin typeface="Aptos"/>
              </a:rPr>
              <a:t>56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32136" y="2444739"/>
            <a:ext cx="1078992" cy="2630180"/>
          </a:xfrm>
          <a:prstGeom prst="rect">
            <a:avLst/>
          </a:prstGeom>
          <a:solidFill>
            <a:srgbClr val="668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32136" y="2170419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C2B44"/>
                </a:solidFill>
                <a:latin typeface="Aptos"/>
              </a:rPr>
              <a:t>84.6%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8984" y="5193792"/>
            <a:ext cx="1225295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373039"/>
                </a:solidFill>
                <a:latin typeface="Aptos"/>
              </a:rPr>
              <a:t>+ híbrido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32136" y="5559552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776C74"/>
                </a:solidFill>
                <a:latin typeface="Aptos"/>
              </a:rPr>
              <a:t>162 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00600" y="5833872"/>
            <a:ext cx="6766560" cy="329184"/>
          </a:xfrm>
          <a:prstGeom prst="roundRect">
            <a:avLst/>
          </a:prstGeom>
          <a:solidFill>
            <a:srgbClr val="E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83480" y="5925312"/>
            <a:ext cx="64008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668975"/>
                </a:solidFill>
                <a:latin typeface="Aptos"/>
              </a:rPr>
              <a:t>Lectura: el salto real viene del rewrite; BM25 no mejora recall en esta ejecución.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00600" y="5815584"/>
            <a:ext cx="6766560" cy="347472"/>
          </a:xfrm>
          <a:prstGeom prst="roundRect">
            <a:avLst/>
          </a:prstGeom>
          <a:solidFill>
            <a:srgbClr val="EB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65192" y="5907024"/>
            <a:ext cx="6446520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40" b="1">
                <a:solidFill>
                  <a:srgbClr val="668975"/>
                </a:solidFill>
                <a:latin typeface="Aptos"/>
              </a:rPr>
              <a:t>84,6% = ablación de una búsqueda. El agente end-to-end puede iterar y alcanza 92,3% en el golden final.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68975"/>
                </a:solidFill>
                <a:latin typeface="Aptos"/>
              </a:rP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3C2B44"/>
                </a:solidFill>
                <a:latin typeface="Aptos"/>
              </a:rPr>
              <a:t>Baseline vs. final · mismo golden set, mismo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897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776C74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776C74"/>
                </a:solidFill>
                <a:latin typeface="Aptos"/>
              </a:rPr>
              <a:t>MIAX · LLMs aplicados a Finanzas · Entrega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1556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373039"/>
                </a:solidFill>
                <a:latin typeface="Aptos"/>
              </a:rPr>
              <a:t>Mismo golden set y mismo modelo. El baseline es el agente de la sesión 1; el final incorpora routing afinado, retrieval mejorado y guardrails.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2743200" cy="475488"/>
          </a:xfrm>
          <a:prstGeom prst="rect">
            <a:avLst/>
          </a:prstGeom>
          <a:solidFill>
            <a:srgbClr val="3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837944"/>
            <a:ext cx="25968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Métrica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691640"/>
            <a:ext cx="1874519" cy="475488"/>
          </a:xfrm>
          <a:prstGeom prst="rect">
            <a:avLst/>
          </a:prstGeom>
          <a:solidFill>
            <a:srgbClr val="3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837944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6088" y="1691640"/>
            <a:ext cx="1874519" cy="475488"/>
          </a:xfrm>
          <a:prstGeom prst="rect">
            <a:avLst/>
          </a:prstGeom>
          <a:solidFill>
            <a:srgbClr val="3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1837944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Final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0607" y="1691640"/>
            <a:ext cx="3429000" cy="475488"/>
          </a:xfrm>
          <a:prstGeom prst="rect">
            <a:avLst/>
          </a:prstGeom>
          <a:solidFill>
            <a:srgbClr val="3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59" y="1837944"/>
            <a:ext cx="32826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Lectura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167128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" y="2322576"/>
            <a:ext cx="25968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40" b="1">
                <a:solidFill>
                  <a:srgbClr val="373039"/>
                </a:solidFill>
                <a:latin typeface="Aptos"/>
              </a:rPr>
              <a:t>Cita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2167128"/>
            <a:ext cx="1874519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2322576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373039"/>
                </a:solidFill>
                <a:latin typeface="Aptos"/>
              </a:rPr>
              <a:t>75,0%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6088" y="2167128"/>
            <a:ext cx="1874519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9240" y="2322576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668975"/>
                </a:solidFill>
                <a:latin typeface="Aptos"/>
              </a:rPr>
              <a:t>100,0%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7" y="2167128"/>
            <a:ext cx="3429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59" y="2322576"/>
            <a:ext cx="32826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0">
                <a:solidFill>
                  <a:srgbClr val="373039"/>
                </a:solidFill>
                <a:latin typeface="Aptos"/>
              </a:rPr>
              <a:t>+25 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2660904"/>
            <a:ext cx="2743200" cy="493776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19" y="2816352"/>
            <a:ext cx="25968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40" b="1">
                <a:solidFill>
                  <a:srgbClr val="373039"/>
                </a:solidFill>
                <a:latin typeface="Aptos"/>
              </a:rPr>
              <a:t>Recall@5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2660904"/>
            <a:ext cx="1874519" cy="493776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0" y="2816352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373039"/>
                </a:solidFill>
                <a:latin typeface="Aptos"/>
              </a:rPr>
              <a:t>46,2%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76088" y="2660904"/>
            <a:ext cx="1874519" cy="493776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49240" y="2816352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668975"/>
                </a:solidFill>
                <a:latin typeface="Aptos"/>
              </a:rPr>
              <a:t>92,3%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50607" y="2660904"/>
            <a:ext cx="3429000" cy="493776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23759" y="2816352"/>
            <a:ext cx="32826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0">
                <a:solidFill>
                  <a:srgbClr val="373039"/>
                </a:solidFill>
                <a:latin typeface="Aptos"/>
              </a:rPr>
              <a:t>+46,1 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154680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19" y="3310128"/>
            <a:ext cx="25968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40" b="1">
                <a:solidFill>
                  <a:srgbClr val="373039"/>
                </a:solidFill>
                <a:latin typeface="Aptos"/>
              </a:rPr>
              <a:t>Cifra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1568" y="3154680"/>
            <a:ext cx="1874519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0" y="3310128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373039"/>
                </a:solidFill>
                <a:latin typeface="Aptos"/>
              </a:rPr>
              <a:t>100,0%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76088" y="3154680"/>
            <a:ext cx="1874519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49240" y="3310128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373039"/>
                </a:solidFill>
                <a:latin typeface="Aptos"/>
              </a:rPr>
              <a:t>100,0%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50607" y="3154680"/>
            <a:ext cx="3429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23759" y="3310128"/>
            <a:ext cx="32826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0">
                <a:solidFill>
                  <a:srgbClr val="373039"/>
                </a:solidFill>
                <a:latin typeface="Aptos"/>
              </a:rPr>
              <a:t>se mantiene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3648456"/>
            <a:ext cx="2743200" cy="493776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19" y="3803904"/>
            <a:ext cx="25968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40" b="1">
                <a:solidFill>
                  <a:srgbClr val="373039"/>
                </a:solidFill>
                <a:latin typeface="Aptos"/>
              </a:rPr>
              <a:t>Trayectoria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1568" y="3648456"/>
            <a:ext cx="1874519" cy="493776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74720" y="3803904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373039"/>
                </a:solidFill>
                <a:latin typeface="Aptos"/>
              </a:rPr>
              <a:t>100,0%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76088" y="3648456"/>
            <a:ext cx="1874519" cy="493776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49240" y="3803904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373039"/>
                </a:solidFill>
                <a:latin typeface="Aptos"/>
              </a:rPr>
              <a:t>100,0%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7" y="3648456"/>
            <a:ext cx="3429000" cy="493776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223759" y="3803904"/>
            <a:ext cx="32826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0">
                <a:solidFill>
                  <a:srgbClr val="373039"/>
                </a:solidFill>
                <a:latin typeface="Aptos"/>
              </a:rPr>
              <a:t>se mantiene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4142232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19" y="4297680"/>
            <a:ext cx="25968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40" b="1">
                <a:solidFill>
                  <a:srgbClr val="373039"/>
                </a:solidFill>
                <a:latin typeface="Aptos"/>
              </a:rPr>
              <a:t>Coste / pregunta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01568" y="4142232"/>
            <a:ext cx="1874519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74720" y="4297680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373039"/>
                </a:solidFill>
                <a:latin typeface="Aptos"/>
              </a:rPr>
              <a:t>$0,01295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76088" y="4142232"/>
            <a:ext cx="1874519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49240" y="4297680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373039"/>
                </a:solidFill>
                <a:latin typeface="Aptos"/>
              </a:rPr>
              <a:t>$0,01273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50607" y="4142232"/>
            <a:ext cx="3429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23759" y="4297680"/>
            <a:ext cx="32826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0">
                <a:solidFill>
                  <a:srgbClr val="373039"/>
                </a:solidFill>
                <a:latin typeface="Aptos"/>
              </a:rPr>
              <a:t>−1,7%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4636008"/>
            <a:ext cx="2743200" cy="493776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19" y="4791456"/>
            <a:ext cx="25968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40" b="1">
                <a:solidFill>
                  <a:srgbClr val="373039"/>
                </a:solidFill>
                <a:latin typeface="Aptos"/>
              </a:rPr>
              <a:t>Latencia / pregunta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01568" y="4636008"/>
            <a:ext cx="1874519" cy="493776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0" y="4791456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373039"/>
                </a:solidFill>
                <a:latin typeface="Aptos"/>
              </a:rPr>
              <a:t>8,16 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76088" y="4636008"/>
            <a:ext cx="1874519" cy="493776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349240" y="4791456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373039"/>
                </a:solidFill>
                <a:latin typeface="Aptos"/>
              </a:rPr>
              <a:t>10,99 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50607" y="4636008"/>
            <a:ext cx="3429000" cy="493776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23759" y="4791456"/>
            <a:ext cx="32826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0">
                <a:solidFill>
                  <a:srgbClr val="B86F7A"/>
                </a:solidFill>
                <a:latin typeface="Aptos"/>
              </a:rPr>
              <a:t>+34,6%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" y="5129784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31519" y="5285232"/>
            <a:ext cx="25968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40" b="1">
                <a:solidFill>
                  <a:srgbClr val="373039"/>
                </a:solidFill>
                <a:latin typeface="Aptos"/>
              </a:rPr>
              <a:t>Llamadas / pregunta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01568" y="5129784"/>
            <a:ext cx="1874519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474720" y="5285232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373039"/>
                </a:solidFill>
                <a:latin typeface="Aptos"/>
              </a:rPr>
              <a:t>4,55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76088" y="5129784"/>
            <a:ext cx="1874519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349240" y="5285232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1">
                <a:solidFill>
                  <a:srgbClr val="373039"/>
                </a:solidFill>
                <a:latin typeface="Aptos"/>
              </a:rPr>
              <a:t>4,15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50607" y="5129784"/>
            <a:ext cx="3429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223759" y="5285232"/>
            <a:ext cx="3282696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40" b="0">
                <a:solidFill>
                  <a:srgbClr val="373039"/>
                </a:solidFill>
                <a:latin typeface="Aptos"/>
              </a:rPr>
              <a:t>−8,8%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58368" y="5650992"/>
            <a:ext cx="10835640" cy="530352"/>
          </a:xfrm>
          <a:prstGeom prst="roundRect">
            <a:avLst/>
          </a:prstGeom>
          <a:solidFill>
            <a:srgbClr val="EB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96112" y="5806440"/>
            <a:ext cx="10332720" cy="21031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50" b="1">
                <a:solidFill>
                  <a:srgbClr val="668975"/>
                </a:solidFill>
                <a:latin typeface="Aptos"/>
              </a:rPr>
              <a:t>La mejora principal está en recuperación y citas. El coste medio incluso baja ligeramente; la contrapartida de esta ejecución es más latencia.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68975"/>
                </a:solidFill>
                <a:latin typeface="Aptos"/>
              </a:rPr>
              <a:t>APRENDIZAJES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3C2B44"/>
                </a:solidFill>
                <a:latin typeface="Aptos"/>
              </a:rPr>
              <a:t>Lo que no funcionó — y por qué importa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897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776C74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776C74"/>
                </a:solidFill>
                <a:latin typeface="Aptos"/>
              </a:rPr>
              <a:t>MIAX · LLMs aplicados a Finanzas · Entrega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4290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3C2B44"/>
                </a:solidFill>
                <a:latin typeface="Aptos"/>
              </a:rPr>
              <a:t>1 · BM25 sin rewrite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019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668975"/>
                </a:solidFill>
                <a:latin typeface="Aptos"/>
              </a:rPr>
              <a:t>46,2%  →  46,2%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77440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0">
                <a:solidFill>
                  <a:srgbClr val="373039"/>
                </a:solidFill>
                <a:latin typeface="Aptos"/>
              </a:rPr>
              <a:t>Añadir coincidencia léxica no solucionó el problema de recuperación: la consulta seguía utilizando un vocabulario distinto al del filing.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7355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776C74"/>
                </a:solidFill>
                <a:latin typeface="Aptos"/>
              </a:rPr>
              <a:t>Qué aprendimos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566160"/>
            <a:ext cx="2788920" cy="7498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>
                <a:solidFill>
                  <a:srgbClr val="3C2B44"/>
                </a:solidFill>
                <a:latin typeface="Aptos"/>
              </a:rPr>
              <a:t>Primero hay que alinear la consulta con el corpus. En esta ejecución, el salto llegó con el query rewrite.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45152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668975"/>
                </a:solidFill>
                <a:latin typeface="Aptos"/>
              </a:rPr>
              <a:t>BM25/RRF puede complementar rankings, pero aquí no añadió Recall@5.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234440"/>
            <a:ext cx="34290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50876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B86F7A"/>
                </a:solidFill>
                <a:latin typeface="Aptos"/>
              </a:rPr>
              <a:t>2 · Guardrail XBRL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019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3C2B44"/>
                </a:solidFill>
                <a:latin typeface="Aptos"/>
              </a:rPr>
              <a:t>dato correcto  →  rechazado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377440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0">
                <a:solidFill>
                  <a:srgbClr val="373039"/>
                </a:solidFill>
                <a:latin typeface="Aptos"/>
              </a:rPr>
              <a:t>En Meta, la provisión por impuestos estaba correctamente recuperada del filing, pero no existía bajo el concepto XBRL esperado.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735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776C74"/>
                </a:solidFill>
                <a:latin typeface="Aptos"/>
              </a:rPr>
              <a:t>Qué fallaba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566160"/>
            <a:ext cx="2788920" cy="84124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9" b="0">
                <a:solidFill>
                  <a:srgbClr val="373039"/>
                </a:solidFill>
                <a:latin typeface="Aptos"/>
              </a:rPr>
              <a:t>El middleware obligaba a contrastar cualquier cifra contra XBRL. Si XBRL no la contenía, terminaba invalidando una respuesta correcta.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718304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>
                <a:solidFill>
                  <a:srgbClr val="668975"/>
                </a:solidFill>
                <a:latin typeface="Aptos"/>
              </a:rPr>
              <a:t>Arreglo: validar según la fuente declarada.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1234440"/>
            <a:ext cx="34290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150876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C5974D"/>
                </a:solidFill>
                <a:latin typeface="Aptos"/>
              </a:rPr>
              <a:t>3 · Tablas y evaluación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1901952"/>
            <a:ext cx="2743200" cy="298543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 dirty="0">
                <a:solidFill>
                  <a:srgbClr val="3C2B44"/>
                </a:solidFill>
                <a:latin typeface="Aptos"/>
              </a:rPr>
              <a:t>el </a:t>
            </a:r>
            <a:r>
              <a:rPr sz="1700" b="1" dirty="0" err="1">
                <a:solidFill>
                  <a:srgbClr val="3C2B44"/>
                </a:solidFill>
                <a:latin typeface="Aptos"/>
              </a:rPr>
              <a:t>contexto</a:t>
            </a:r>
            <a:r>
              <a:rPr lang="es-ES" sz="1700" b="1" dirty="0">
                <a:solidFill>
                  <a:srgbClr val="3C2B4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3C2B44"/>
                </a:solidFill>
                <a:latin typeface="Aptos"/>
              </a:rPr>
              <a:t>importa</a:t>
            </a:r>
            <a:endParaRPr sz="1700" b="1" dirty="0">
              <a:solidFill>
                <a:srgbClr val="3C2B44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94192" y="2377440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0" dirty="0">
                <a:solidFill>
                  <a:srgbClr val="373039"/>
                </a:solidFill>
                <a:latin typeface="Aptos"/>
              </a:rPr>
              <a:t>Una </a:t>
            </a:r>
            <a:r>
              <a:rPr sz="1000" b="0" dirty="0" err="1">
                <a:solidFill>
                  <a:srgbClr val="373039"/>
                </a:solidFill>
                <a:latin typeface="Aptos"/>
              </a:rPr>
              <a:t>tabla</a:t>
            </a:r>
            <a:r>
              <a:rPr sz="1000" b="0" dirty="0">
                <a:solidFill>
                  <a:srgbClr val="373039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373039"/>
                </a:solidFill>
                <a:latin typeface="Aptos"/>
              </a:rPr>
              <a:t>puede</a:t>
            </a:r>
            <a:r>
              <a:rPr sz="1000" b="0" dirty="0">
                <a:solidFill>
                  <a:srgbClr val="373039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373039"/>
                </a:solidFill>
                <a:latin typeface="Aptos"/>
              </a:rPr>
              <a:t>conservar</a:t>
            </a:r>
            <a:r>
              <a:rPr sz="1000" b="0" dirty="0">
                <a:solidFill>
                  <a:srgbClr val="373039"/>
                </a:solidFill>
                <a:latin typeface="Aptos"/>
              </a:rPr>
              <a:t> el valor “60,922” </a:t>
            </a:r>
            <a:r>
              <a:rPr sz="1000" b="0" dirty="0" err="1">
                <a:solidFill>
                  <a:srgbClr val="373039"/>
                </a:solidFill>
                <a:latin typeface="Aptos"/>
              </a:rPr>
              <a:t>pero</a:t>
            </a:r>
            <a:r>
              <a:rPr sz="1000" b="0" dirty="0">
                <a:solidFill>
                  <a:srgbClr val="373039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373039"/>
                </a:solidFill>
                <a:latin typeface="Aptos"/>
              </a:rPr>
              <a:t>perder</a:t>
            </a:r>
            <a:r>
              <a:rPr sz="1000" b="0" dirty="0">
                <a:solidFill>
                  <a:srgbClr val="373039"/>
                </a:solidFill>
                <a:latin typeface="Aptos"/>
              </a:rPr>
              <a:t> la cabecera “($ in millions)”. El </a:t>
            </a:r>
            <a:r>
              <a:rPr sz="1000" b="0" dirty="0" err="1">
                <a:solidFill>
                  <a:srgbClr val="373039"/>
                </a:solidFill>
                <a:latin typeface="Aptos"/>
              </a:rPr>
              <a:t>número</a:t>
            </a:r>
            <a:r>
              <a:rPr sz="1000" b="0" dirty="0">
                <a:solidFill>
                  <a:srgbClr val="373039"/>
                </a:solidFill>
                <a:latin typeface="Aptos"/>
              </a:rPr>
              <a:t> es </a:t>
            </a:r>
            <a:r>
              <a:rPr sz="1000" b="0" dirty="0" err="1">
                <a:solidFill>
                  <a:srgbClr val="373039"/>
                </a:solidFill>
                <a:latin typeface="Aptos"/>
              </a:rPr>
              <a:t>correcto</a:t>
            </a:r>
            <a:r>
              <a:rPr sz="1000" b="0" dirty="0">
                <a:solidFill>
                  <a:srgbClr val="373039"/>
                </a:solidFill>
                <a:latin typeface="Aptos"/>
              </a:rPr>
              <a:t>; la </a:t>
            </a:r>
            <a:r>
              <a:rPr sz="1000" b="0" dirty="0" err="1">
                <a:solidFill>
                  <a:srgbClr val="373039"/>
                </a:solidFill>
                <a:latin typeface="Aptos"/>
              </a:rPr>
              <a:t>magnitud</a:t>
            </a:r>
            <a:r>
              <a:rPr sz="1000" b="0" dirty="0">
                <a:solidFill>
                  <a:srgbClr val="373039"/>
                </a:solidFill>
                <a:latin typeface="Aptos"/>
              </a:rPr>
              <a:t>, no.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32735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776C74"/>
                </a:solidFill>
                <a:latin typeface="Aptos"/>
              </a:rPr>
              <a:t>Además…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3566160"/>
            <a:ext cx="2788920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9" b="0">
                <a:solidFill>
                  <a:srgbClr val="373039"/>
                </a:solidFill>
                <a:latin typeface="Aptos"/>
              </a:rPr>
              <a:t>• `cifra` es ambiguo en preguntas derivadas.
• El split 10:1 de NVIDIA exige decidir qué convención espera el golden.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89204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3C2B44"/>
                </a:solidFill>
                <a:latin typeface="Aptos"/>
              </a:rPr>
              <a:t>El evaluador también necesita una especificación precisa.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925312"/>
            <a:ext cx="10972800" cy="320040"/>
          </a:xfrm>
          <a:prstGeom prst="roundRect">
            <a:avLst/>
          </a:prstGeom>
          <a:solidFill>
            <a:srgbClr val="3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6016752"/>
            <a:ext cx="10469880" cy="14630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Los fallos más útiles no fueron del LLM: revelaron supuestos incorrectos en retrieval, validación y evaluación.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897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68975"/>
                </a:solidFill>
                <a:latin typeface="Aptos"/>
              </a:rPr>
              <a:t>PREGUNTAS CIEGAS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4462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300" b="1" dirty="0" err="1">
                <a:solidFill>
                  <a:srgbClr val="3C2B44"/>
                </a:solidFill>
                <a:latin typeface="Aptos"/>
              </a:rPr>
              <a:t>Resultados</a:t>
            </a:r>
            <a:r>
              <a:rPr sz="2300" b="1" dirty="0">
                <a:solidFill>
                  <a:srgbClr val="3C2B44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3C2B44"/>
                </a:solidFill>
                <a:latin typeface="Aptos"/>
              </a:rPr>
              <a:t>sobre</a:t>
            </a:r>
            <a:r>
              <a:rPr sz="2300" b="1" dirty="0">
                <a:solidFill>
                  <a:srgbClr val="3C2B44"/>
                </a:solidFill>
                <a:latin typeface="Aptos"/>
              </a:rPr>
              <a:t> el conjunto </a:t>
            </a:r>
            <a:r>
              <a:rPr lang="es-ES" sz="2300" b="1" dirty="0" err="1">
                <a:solidFill>
                  <a:srgbClr val="3C2B44"/>
                </a:solidFill>
                <a:latin typeface="Aptos"/>
              </a:rPr>
              <a:t>holdout</a:t>
            </a:r>
            <a:endParaRPr sz="2300" b="1" dirty="0">
              <a:solidFill>
                <a:srgbClr val="3C2B4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776C74"/>
                </a:solidFill>
                <a:latin typeface="Aptos"/>
              </a:rPr>
              <a:t>MIAX · LLMs aplicados a Finanzas · Entrega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776C74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373039"/>
                </a:solidFill>
                <a:latin typeface="Aptos"/>
              </a:rPr>
              <a:t>Aquí incorporaremos los resultados oficiales después de ejecutar las preguntas ciegas, sin modificar el sistema.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19072"/>
            <a:ext cx="2359152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9751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776C74"/>
                </a:solidFill>
                <a:latin typeface="Aptos"/>
              </a:rPr>
              <a:t>CITA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0008"/>
            <a:ext cx="2359152" cy="406265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lang="es-ES" sz="2400" b="1" dirty="0">
                <a:solidFill>
                  <a:srgbClr val="3C2B44"/>
                </a:solidFill>
                <a:latin typeface="Aptos"/>
              </a:rPr>
              <a:t>100%</a:t>
            </a:r>
            <a:endParaRPr sz="2400" b="1" dirty="0">
              <a:solidFill>
                <a:srgbClr val="3C2B44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511296" y="1719072"/>
            <a:ext cx="2359152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11296" y="19751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776C74"/>
                </a:solidFill>
                <a:latin typeface="Aptos"/>
              </a:rPr>
              <a:t>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350008"/>
            <a:ext cx="2359152" cy="406265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lang="es-ES" sz="2400" b="1" dirty="0">
                <a:solidFill>
                  <a:srgbClr val="3C2B44"/>
                </a:solidFill>
                <a:latin typeface="Aptos"/>
              </a:rPr>
              <a:t>60%</a:t>
            </a:r>
            <a:endParaRPr sz="2400" b="1" dirty="0">
              <a:solidFill>
                <a:srgbClr val="3C2B44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72784" y="1719072"/>
            <a:ext cx="2359152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72784" y="19751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776C74"/>
                </a:solidFill>
                <a:latin typeface="Aptos"/>
              </a:rPr>
              <a:t>TRAYECTORIA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350008"/>
            <a:ext cx="2359152" cy="406265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lang="es-ES" sz="2400" b="1" dirty="0">
                <a:solidFill>
                  <a:srgbClr val="3C2B44"/>
                </a:solidFill>
                <a:latin typeface="Aptos"/>
              </a:rPr>
              <a:t>100%</a:t>
            </a:r>
            <a:endParaRPr sz="2400" b="1" dirty="0">
              <a:solidFill>
                <a:srgbClr val="3C2B44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34272" y="1719072"/>
            <a:ext cx="2359152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34272" y="19751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776C74"/>
                </a:solidFill>
                <a:latin typeface="Aptos"/>
              </a:rPr>
              <a:t>RECALL@5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350008"/>
            <a:ext cx="2359152" cy="406265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lang="es-ES" sz="2400" b="1" dirty="0">
                <a:solidFill>
                  <a:srgbClr val="3C2B44"/>
                </a:solidFill>
                <a:latin typeface="Aptos"/>
              </a:rPr>
              <a:t>85,7%</a:t>
            </a:r>
            <a:endParaRPr sz="2400" b="1" dirty="0">
              <a:solidFill>
                <a:srgbClr val="3C2B44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9808" y="3364992"/>
            <a:ext cx="10643616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639312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 dirty="0">
                <a:solidFill>
                  <a:srgbClr val="668975"/>
                </a:solidFill>
                <a:latin typeface="Aptos"/>
              </a:rPr>
              <a:t>RESULTADOS / OBSERVACIONES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669280"/>
            <a:ext cx="10643616" cy="438912"/>
          </a:xfrm>
          <a:prstGeom prst="roundRect">
            <a:avLst/>
          </a:prstGeom>
          <a:solidFill>
            <a:srgbClr val="E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797296"/>
            <a:ext cx="10195560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50" b="1">
                <a:solidFill>
                  <a:srgbClr val="668975"/>
                </a:solidFill>
                <a:latin typeface="Aptos"/>
              </a:rPr>
              <a:t>Objetivo: comprobar si las mejoras observadas en el golden propio generalizan a preguntas no vistas.</a:t>
            </a: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374A256F-3CC8-D3FC-19C4-585EC422D833}"/>
              </a:ext>
            </a:extLst>
          </p:cNvPr>
          <p:cNvSpPr txBox="1"/>
          <p:nvPr/>
        </p:nvSpPr>
        <p:spPr>
          <a:xfrm>
            <a:off x="1005838" y="4056006"/>
            <a:ext cx="10149842" cy="1268039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668975"/>
                </a:solidFill>
                <a:latin typeface="Aptos"/>
              </a:rPr>
              <a:t>El 60% de cifra es engañoso, los dos casos marcados como incorrectos (pregunta 7 y 8) contienen exactamente los valores </a:t>
            </a:r>
            <a:r>
              <a:rPr lang="es-ES" sz="1000" b="1" dirty="0" err="1">
                <a:solidFill>
                  <a:srgbClr val="668975"/>
                </a:solidFill>
                <a:latin typeface="Aptos"/>
              </a:rPr>
              <a:t>esperandos</a:t>
            </a:r>
            <a:r>
              <a:rPr lang="es-ES" sz="1000" b="1" dirty="0">
                <a:solidFill>
                  <a:srgbClr val="668975"/>
                </a:solidFill>
                <a:latin typeface="Aptos"/>
              </a:rPr>
              <a:t> pero el evaluador penaliza cómo se presenta una pregunta derivada. El agente devuelve no solo una cifra y el evaluador no es capaz </a:t>
            </a:r>
            <a:r>
              <a:rPr lang="es-ES" sz="1000" b="1" dirty="0" err="1">
                <a:solidFill>
                  <a:srgbClr val="668975"/>
                </a:solidFill>
                <a:latin typeface="Aptos"/>
              </a:rPr>
              <a:t>dedeterminar</a:t>
            </a:r>
            <a:r>
              <a:rPr lang="es-ES" sz="1000" b="1" dirty="0">
                <a:solidFill>
                  <a:srgbClr val="668975"/>
                </a:solidFill>
                <a:latin typeface="Aptos"/>
              </a:rPr>
              <a:t> bien el resultado.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s-ES" sz="1000" b="1" dirty="0">
              <a:solidFill>
                <a:srgbClr val="668975"/>
              </a:solidFill>
              <a:latin typeface="Aptos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668975"/>
                </a:solidFill>
                <a:latin typeface="Aptos"/>
              </a:rPr>
              <a:t>Las dos preguntas trampa (</a:t>
            </a:r>
            <a:r>
              <a:rPr lang="es-ES" sz="1000" b="1" dirty="0" err="1">
                <a:solidFill>
                  <a:srgbClr val="668975"/>
                </a:solidFill>
                <a:latin typeface="Aptos"/>
              </a:rPr>
              <a:t>Grossprofit</a:t>
            </a:r>
            <a:r>
              <a:rPr lang="es-ES" sz="1000" b="1" dirty="0">
                <a:solidFill>
                  <a:srgbClr val="668975"/>
                </a:solidFill>
                <a:latin typeface="Aptos"/>
              </a:rPr>
              <a:t> de Amazon y NVIDIA FY2023) se responden correctamente indicando que la información no está disponible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s-ES" sz="1000" b="1" dirty="0">
              <a:solidFill>
                <a:srgbClr val="668975"/>
              </a:solidFill>
              <a:latin typeface="Aptos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668975"/>
                </a:solidFill>
                <a:latin typeface="Aptos"/>
              </a:rPr>
              <a:t>El error del </a:t>
            </a:r>
            <a:r>
              <a:rPr lang="es-ES" sz="1000" b="1" dirty="0" err="1">
                <a:solidFill>
                  <a:srgbClr val="668975"/>
                </a:solidFill>
                <a:latin typeface="Aptos"/>
              </a:rPr>
              <a:t>recall</a:t>
            </a:r>
            <a:r>
              <a:rPr lang="es-ES" sz="1000" b="1" dirty="0">
                <a:solidFill>
                  <a:srgbClr val="668975"/>
                </a:solidFill>
                <a:latin typeface="Aptos"/>
              </a:rPr>
              <a:t> se da en la pregunta 8. Inicialmente en la primera búsqueda de los 5 </a:t>
            </a:r>
            <a:r>
              <a:rPr lang="es-ES" sz="1000" b="1" dirty="0" err="1">
                <a:solidFill>
                  <a:srgbClr val="668975"/>
                </a:solidFill>
                <a:latin typeface="Aptos"/>
              </a:rPr>
              <a:t>chunks</a:t>
            </a:r>
            <a:r>
              <a:rPr lang="es-ES" sz="1000" b="1" dirty="0">
                <a:solidFill>
                  <a:srgbClr val="668975"/>
                </a:solidFill>
                <a:latin typeface="Aptos"/>
              </a:rPr>
              <a:t> no se encuentra el fragmento necesario pero finalmente tras iterar sí que consigue encontrarlo.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1000" b="1" dirty="0">
              <a:solidFill>
                <a:srgbClr val="668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897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68975"/>
                </a:solidFill>
                <a:latin typeface="Aptos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3C2B44"/>
                </a:solidFill>
                <a:latin typeface="Aptos"/>
              </a:rPr>
              <a:t>Qué hemos aprendido y qué haríamos después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776C74"/>
                </a:solidFill>
                <a:latin typeface="Aptos"/>
              </a:rPr>
              <a:t>MIAX · LLMs aplicados a Finanzas · Entrega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776C74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61872"/>
            <a:ext cx="345643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7276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668975"/>
                </a:solidFill>
                <a:latin typeface="Aptos"/>
              </a:rPr>
              <a:t>Qué nos llevamos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11680"/>
            <a:ext cx="2907792" cy="33375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0" b="0">
                <a:solidFill>
                  <a:srgbClr val="373039"/>
                </a:solidFill>
                <a:latin typeface="Aptos"/>
              </a:rPr>
              <a:t>• Retrieval no es la arquitectura: es una herramienta dentro del agente.
• El mayor cuello de botella era localizar y citar el texto correcto, no extraer cifras XBRL.
• Los filtros y, sobre todo, el query rewrite producen el salto de recuperación.
• El resultado debe evaluarse junto con trayectoria, coste y latencia.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61872"/>
            <a:ext cx="345643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57276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B86F7A"/>
                </a:solidFill>
                <a:latin typeface="Aptos"/>
              </a:rPr>
              <a:t>Qué aprendimos al romperlo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11680"/>
            <a:ext cx="2907792" cy="33375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0" b="0">
                <a:solidFill>
                  <a:srgbClr val="373039"/>
                </a:solidFill>
                <a:latin typeface="Aptos"/>
              </a:rPr>
              <a:t>• Un guardrail puede empeorar el sistema si impone XBRL a cifras que vienen legítimamente del texto.
• Las tablas fragmentadas pueden conservar el número y perder su unidad o contexto.
• El golden también forma parte del sistema: debe fijar qué significa `cifra` y cómo tratar eventos como splits.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61872"/>
            <a:ext cx="345643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1" y="157276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674868"/>
                </a:solidFill>
                <a:latin typeface="Aptos"/>
              </a:rPr>
              <a:t>Qué haríamos después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2011680"/>
            <a:ext cx="2907792" cy="33375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0" b="0">
                <a:solidFill>
                  <a:srgbClr val="373039"/>
                </a:solidFill>
                <a:latin typeface="Aptos"/>
              </a:rPr>
              <a:t>• Separar en la salida valor fuente, operación y cifra derivada.
• Comparar modelos de embeddings manteniendo el mismo golden y pipeline.
• Añadir preguntas de tablas, sumas entre filas y conceptos ausentes en XBRL.
• Evaluar retrieval y agente end-to-end por separado para saber dónde aparece cada mejora.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971032"/>
            <a:ext cx="10972800" cy="347472"/>
          </a:xfrm>
          <a:prstGeom prst="roundRect">
            <a:avLst/>
          </a:prstGeom>
          <a:solidFill>
            <a:srgbClr val="3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6071616"/>
            <a:ext cx="10515600" cy="15544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Una mejora cuenta cuando corrige un fallo observable, mueve una métrica y podemos poner su coste al lado del beneficio.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ce290be-5ae8-4434-9797-15177c020e10}" enabled="1" method="Standard" siteId="{c37d7c16-d7c7-4558-93d2-a635b596c2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1569</Words>
  <Application>Microsoft Office PowerPoint</Application>
  <PresentationFormat>Panorámica</PresentationFormat>
  <Paragraphs>238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Mono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Miriam del Blanco Gonzalez</cp:lastModifiedBy>
  <cp:revision>4</cp:revision>
  <dcterms:created xsi:type="dcterms:W3CDTF">2013-01-27T09:14:16Z</dcterms:created>
  <dcterms:modified xsi:type="dcterms:W3CDTF">2026-09-24T18:09:39Z</dcterms:modified>
  <cp:category/>
</cp:coreProperties>
</file>